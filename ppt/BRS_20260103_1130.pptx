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051" autoAdjust="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9E888-BB91-48D5-BAFD-790F0AFD320D}" type="datetimeFigureOut">
              <a:rPr lang="ko-KR" altLang="en-US" smtClean="0"/>
              <a:t>2026-01-04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22464-E44D-4760-BBD7-3C20EC9BF4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09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슬라이드는 본 연구에서 제안하는 스케줄링 아키텍처의 전체 구조를 보여줍니다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핵심 아이디어는 </a:t>
            </a:r>
            <a:r>
              <a:rPr lang="ko-KR" altLang="en-US" b="1" dirty="0" err="1"/>
              <a:t>응답성</a:t>
            </a:r>
            <a:r>
              <a:rPr lang="en-US" altLang="ko-KR" b="1" dirty="0"/>
              <a:t>(responsiveness)</a:t>
            </a:r>
            <a:r>
              <a:rPr lang="ko-KR" altLang="en-US" dirty="0"/>
              <a:t> 과 </a:t>
            </a:r>
            <a:r>
              <a:rPr lang="ko-KR" altLang="en-US" b="1" dirty="0"/>
              <a:t>공정성</a:t>
            </a:r>
            <a:r>
              <a:rPr lang="en-US" altLang="ko-KR" b="1" dirty="0"/>
              <a:t>(fairness)</a:t>
            </a:r>
            <a:r>
              <a:rPr lang="ko-KR" altLang="en-US" dirty="0"/>
              <a:t> 을 동시에 제어하기 위해</a:t>
            </a:r>
            <a:br>
              <a:rPr lang="ko-KR" altLang="en-US" dirty="0"/>
            </a:br>
            <a:r>
              <a:rPr lang="ko-KR" altLang="en-US" dirty="0"/>
              <a:t>기존 스케줄러 위에 </a:t>
            </a:r>
            <a:r>
              <a:rPr lang="en-US" altLang="ko-KR" b="1" dirty="0"/>
              <a:t>Bias Engine</a:t>
            </a:r>
            <a:r>
              <a:rPr lang="ko-KR" altLang="en-US" b="1" dirty="0"/>
              <a:t>과 </a:t>
            </a:r>
            <a:r>
              <a:rPr lang="en-US" altLang="ko-KR" b="1" dirty="0"/>
              <a:t>Hybrid Controller</a:t>
            </a:r>
            <a:r>
              <a:rPr lang="ko-KR" altLang="en-US" b="1" dirty="0"/>
              <a:t>를 결합한 제어 구조</a:t>
            </a:r>
            <a:r>
              <a:rPr lang="ko-KR" altLang="en-US" dirty="0"/>
              <a:t>를 도입했다는 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왼쪽에서 태스크 정보가 입력되고</a:t>
            </a:r>
            <a:r>
              <a:rPr lang="en-US" altLang="ko-KR" dirty="0"/>
              <a:t>, </a:t>
            </a:r>
            <a:r>
              <a:rPr lang="ko-KR" altLang="en-US" dirty="0"/>
              <a:t>중앙에서 스케줄링 정책이 결정되며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오른쪽에서는 장기적인 공정성 관점에서 제어 파라미터를 </a:t>
            </a:r>
            <a:r>
              <a:rPr lang="ko-KR" altLang="en-US" dirty="0" err="1"/>
              <a:t>피드백하는</a:t>
            </a:r>
            <a:r>
              <a:rPr lang="ko-KR" altLang="en-US" dirty="0"/>
              <a:t> 구조입니다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44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입력부를 보면</a:t>
            </a:r>
            <a:r>
              <a:rPr lang="en-US" altLang="ko-KR" dirty="0"/>
              <a:t>, Task Q</a:t>
            </a:r>
            <a:r>
              <a:rPr lang="ko-KR" altLang="en-US" dirty="0"/>
              <a:t>는 스케줄링 대상 태스크들의 큐를 의미하고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Vruntime</a:t>
            </a:r>
            <a:r>
              <a:rPr lang="ko-KR" altLang="en-US" dirty="0"/>
              <a:t>은 리눅스 </a:t>
            </a:r>
            <a:r>
              <a:rPr lang="en-US" altLang="ko-KR" dirty="0"/>
              <a:t>CFS</a:t>
            </a:r>
            <a:r>
              <a:rPr lang="ko-KR" altLang="en-US" dirty="0"/>
              <a:t>에서 사용하는 가상 실행 시간 정보입니다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두 정보는 태스크의 </a:t>
            </a:r>
            <a:r>
              <a:rPr lang="ko-KR" altLang="en-US" b="1" dirty="0"/>
              <a:t>현재 실행 상태와 누적 </a:t>
            </a:r>
            <a:r>
              <a:rPr lang="ko-KR" altLang="en-US" b="1" dirty="0" err="1"/>
              <a:t>실행량</a:t>
            </a:r>
            <a:r>
              <a:rPr lang="ko-KR" altLang="en-US" dirty="0" err="1"/>
              <a:t>을</a:t>
            </a:r>
            <a:r>
              <a:rPr lang="ko-KR" altLang="en-US" dirty="0"/>
              <a:t> 나타내며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이후 </a:t>
            </a:r>
            <a:r>
              <a:rPr lang="en-US" altLang="ko-KR" dirty="0"/>
              <a:t>Bias Engine</a:t>
            </a:r>
            <a:r>
              <a:rPr lang="ko-KR" altLang="en-US" dirty="0"/>
              <a:t>과 </a:t>
            </a:r>
            <a:r>
              <a:rPr lang="en-US" altLang="ko-KR" dirty="0"/>
              <a:t>Runqueue Selector</a:t>
            </a:r>
            <a:r>
              <a:rPr lang="ko-KR" altLang="en-US" dirty="0"/>
              <a:t>의 의사결정에 핵심 입력으로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기존 커널 스케줄러의 정보를 그대로 활용하면서</a:t>
            </a:r>
            <a:br>
              <a:rPr lang="ko-KR" altLang="en-US" dirty="0"/>
            </a:br>
            <a:r>
              <a:rPr lang="ko-KR" altLang="en-US" dirty="0"/>
              <a:t>추가적인 제어 레이어를 얹는 방식입니다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383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중앙 상단의 </a:t>
            </a:r>
            <a:r>
              <a:rPr lang="en-US" altLang="ko-KR" dirty="0"/>
              <a:t>Responsiveness Bias Engine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/>
              <a:t>태스크의 </a:t>
            </a:r>
            <a:r>
              <a:rPr lang="ko-KR" altLang="en-US" b="1" dirty="0"/>
              <a:t>응답성을 동적으로 조절하는 핵심 모듈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</a:t>
            </a:r>
            <a:r>
              <a:rPr lang="en-US" altLang="ko-KR" dirty="0"/>
              <a:t>β </a:t>
            </a:r>
            <a:r>
              <a:rPr lang="ko-KR" altLang="en-US" dirty="0"/>
              <a:t>파라미터는 응답성에 대한 가중치를 의미하며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인터랙티브 태스크나 지연 민감 태스크에 더 많은 실행 기회를 부여하도록 조정됩니다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Bias Engine</a:t>
            </a:r>
            <a:r>
              <a:rPr lang="ko-KR" altLang="en-US" dirty="0"/>
              <a:t>이 </a:t>
            </a:r>
            <a:r>
              <a:rPr lang="en-US" altLang="ko-KR" b="1" dirty="0"/>
              <a:t>Runqueue Selector</a:t>
            </a:r>
            <a:r>
              <a:rPr lang="ko-KR" altLang="en-US" b="1" dirty="0"/>
              <a:t>에 직접적인 영향</a:t>
            </a:r>
            <a:r>
              <a:rPr lang="ko-KR" altLang="en-US" dirty="0"/>
              <a:t>을 주면서도</a:t>
            </a:r>
            <a:br>
              <a:rPr lang="ko-KR" altLang="en-US" dirty="0"/>
            </a:br>
            <a:r>
              <a:rPr lang="ko-KR" altLang="en-US" dirty="0" err="1"/>
              <a:t>하드코딩된</a:t>
            </a:r>
            <a:r>
              <a:rPr lang="ko-KR" altLang="en-US" dirty="0"/>
              <a:t> 정책이 아니라 </a:t>
            </a:r>
            <a:r>
              <a:rPr lang="ko-KR" altLang="en-US" b="1" dirty="0"/>
              <a:t>제어 가능한 파라미터 기반 구조</a:t>
            </a:r>
            <a:r>
              <a:rPr lang="ko-KR" altLang="en-US" dirty="0"/>
              <a:t>라는 점입니다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889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Bias Engine</a:t>
            </a:r>
            <a:r>
              <a:rPr lang="ko-KR" altLang="en-US" dirty="0"/>
              <a:t>과 </a:t>
            </a:r>
            <a:r>
              <a:rPr lang="en-US" altLang="ko-KR" dirty="0"/>
              <a:t>Vruntime </a:t>
            </a:r>
            <a:r>
              <a:rPr lang="ko-KR" altLang="en-US" dirty="0"/>
              <a:t>정보를 바탕으로</a:t>
            </a:r>
            <a:br>
              <a:rPr lang="ko-KR" altLang="en-US" dirty="0"/>
            </a:br>
            <a:r>
              <a:rPr lang="ko-KR" altLang="en-US" dirty="0"/>
              <a:t>실제 실행할 태스크를 선택하는 부분이 </a:t>
            </a:r>
            <a:r>
              <a:rPr lang="en-US" altLang="ko-KR" dirty="0"/>
              <a:t>Runqueue Selector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모듈은 커널 스케줄링 경로에 위치하며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최종적으로 어떤 태스크가 </a:t>
            </a:r>
            <a:r>
              <a:rPr lang="en-US" altLang="ko-KR" dirty="0"/>
              <a:t>CPU</a:t>
            </a:r>
            <a:r>
              <a:rPr lang="ko-KR" altLang="en-US" dirty="0"/>
              <a:t>를 할당받을지를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하단의 </a:t>
            </a:r>
            <a:r>
              <a:rPr lang="en-US" altLang="ko-KR" dirty="0"/>
              <a:t>/proc control interface</a:t>
            </a:r>
            <a:r>
              <a:rPr lang="ko-KR" altLang="en-US" dirty="0"/>
              <a:t>를 통해</a:t>
            </a:r>
            <a:br>
              <a:rPr lang="ko-KR" altLang="en-US" dirty="0"/>
            </a:br>
            <a:r>
              <a:rPr lang="ko-KR" altLang="en-US" dirty="0"/>
              <a:t>사용자 공간이나 외부 제어 로직이</a:t>
            </a:r>
            <a:br>
              <a:rPr lang="ko-KR" altLang="en-US" dirty="0"/>
            </a:br>
            <a:r>
              <a:rPr lang="ko-KR" altLang="en-US" dirty="0"/>
              <a:t>스케줄링 파라미터를 런타임에 조정할 수 있도록 설계되었습니다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실험 및 동적 정책 변경을 가능하게 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771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오른쪽의 </a:t>
            </a:r>
            <a:r>
              <a:rPr lang="en-US" altLang="ko-KR" dirty="0"/>
              <a:t>Hybrid Controller</a:t>
            </a:r>
            <a:r>
              <a:rPr lang="ko-KR" altLang="en-US" dirty="0"/>
              <a:t>는</a:t>
            </a:r>
            <a:br>
              <a:rPr lang="ko-KR" altLang="en-US" dirty="0"/>
            </a:br>
            <a:r>
              <a:rPr lang="ko-KR" altLang="en-US" dirty="0"/>
              <a:t>시스템 전체 관점에서의 </a:t>
            </a:r>
            <a:r>
              <a:rPr lang="ko-KR" altLang="en-US" b="1" dirty="0"/>
              <a:t>장기적인 공정성</a:t>
            </a:r>
            <a:r>
              <a:rPr lang="ko-KR" altLang="en-US" dirty="0"/>
              <a:t>을 담당합니다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여기서는 </a:t>
            </a:r>
            <a:r>
              <a:rPr lang="en-US" altLang="ko-KR" dirty="0"/>
              <a:t>Jain’s Fairness Index</a:t>
            </a:r>
            <a:r>
              <a:rPr lang="ko-KR" altLang="en-US" dirty="0"/>
              <a:t>와 </a:t>
            </a:r>
            <a:r>
              <a:rPr lang="en-US" altLang="ko-KR" dirty="0"/>
              <a:t>starvation rate</a:t>
            </a:r>
            <a:r>
              <a:rPr lang="ko-KR" altLang="en-US" dirty="0"/>
              <a:t>를 사용해</a:t>
            </a:r>
            <a:br>
              <a:rPr lang="ko-KR" altLang="en-US" dirty="0"/>
            </a:br>
            <a:r>
              <a:rPr lang="ko-KR" altLang="en-US" dirty="0"/>
              <a:t>특정 태스크가 과도하게 우선되거나</a:t>
            </a:r>
            <a:br>
              <a:rPr lang="ko-KR" altLang="en-US" dirty="0"/>
            </a:br>
            <a:r>
              <a:rPr lang="ko-KR" altLang="en-US" dirty="0"/>
              <a:t>장기간 실행되지 못하는 상황을 감지합니다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결과는 다시 </a:t>
            </a:r>
            <a:r>
              <a:rPr lang="en-US" altLang="ko-KR" dirty="0"/>
              <a:t>Bias Engine</a:t>
            </a:r>
            <a:r>
              <a:rPr lang="ko-KR" altLang="en-US" dirty="0"/>
              <a:t>으로 </a:t>
            </a:r>
            <a:r>
              <a:rPr lang="ko-KR" altLang="en-US" dirty="0" err="1"/>
              <a:t>피드백되어</a:t>
            </a:r>
            <a:br>
              <a:rPr lang="ko-KR" altLang="en-US" dirty="0"/>
            </a:br>
            <a:r>
              <a:rPr lang="en-US" altLang="ko-KR" dirty="0"/>
              <a:t>β </a:t>
            </a:r>
            <a:r>
              <a:rPr lang="ko-KR" altLang="en-US" dirty="0"/>
              <a:t>값이 조정되며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단기 응답성과 장기 공정성 사이의 균형을 유지하게 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46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</a:t>
            </a:r>
            <a:r>
              <a:rPr lang="en-US" altLang="ko-KR" dirty="0"/>
              <a:t>, </a:t>
            </a:r>
            <a:r>
              <a:rPr lang="ko-KR" altLang="en-US" dirty="0"/>
              <a:t>이 구조는</a:t>
            </a:r>
            <a:br>
              <a:rPr lang="ko-KR" altLang="en-US" dirty="0"/>
            </a:br>
            <a:r>
              <a:rPr lang="ko-KR" altLang="en-US" b="1" dirty="0"/>
              <a:t>단기 응답성은 </a:t>
            </a:r>
            <a:r>
              <a:rPr lang="en-US" altLang="ko-KR" b="1" dirty="0"/>
              <a:t>Bias Engine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장기 공정성은 </a:t>
            </a:r>
            <a:r>
              <a:rPr lang="en-US" altLang="ko-KR" b="1" dirty="0"/>
              <a:t>Hybrid Controller</a:t>
            </a:r>
            <a:r>
              <a:rPr lang="ko-KR" altLang="en-US" dirty="0"/>
              <a:t>가 담당하는</a:t>
            </a:r>
            <a:br>
              <a:rPr lang="ko-KR" altLang="en-US" dirty="0"/>
            </a:br>
            <a:r>
              <a:rPr lang="ko-KR" altLang="en-US" dirty="0"/>
              <a:t>이중 제어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</a:t>
            </a:r>
            <a:r>
              <a:rPr lang="en-US" altLang="ko-KR" dirty="0"/>
              <a:t>CFS </a:t>
            </a:r>
            <a:r>
              <a:rPr lang="ko-KR" altLang="en-US" dirty="0"/>
              <a:t>구조를 크게 변경하지 않으면서도</a:t>
            </a:r>
            <a:br>
              <a:rPr lang="ko-KR" altLang="en-US" dirty="0"/>
            </a:br>
            <a:r>
              <a:rPr lang="ko-KR" altLang="en-US" dirty="0"/>
              <a:t>실험 가능하고 확장 가능한 스케줄링 제어를 제공하는 것이</a:t>
            </a:r>
            <a:br>
              <a:rPr lang="ko-KR" altLang="en-US" dirty="0"/>
            </a:br>
            <a:r>
              <a:rPr lang="ko-KR" altLang="en-US" dirty="0"/>
              <a:t>본 아키텍처의 가장 큰 장점입니다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 슬라이드에서는 이 구조가 실제 워크로드에서</a:t>
            </a:r>
            <a:br>
              <a:rPr lang="ko-KR" altLang="en-US" dirty="0"/>
            </a:br>
            <a:r>
              <a:rPr lang="ko-KR" altLang="en-US" dirty="0"/>
              <a:t>어떤 성능 특성을 보이는지 실험 결과를 통해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777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BRS</a:t>
            </a:r>
            <a:r>
              <a:rPr lang="ko-KR" altLang="en-US" dirty="0"/>
              <a:t>는 커널을 대규모로 수정하지 않으면서도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실제 서비스에서 중요한 </a:t>
            </a:r>
            <a:r>
              <a:rPr lang="en-US" altLang="ko-KR" b="1" dirty="0"/>
              <a:t>tail latency</a:t>
            </a:r>
            <a:r>
              <a:rPr lang="ko-KR" altLang="en-US" b="1" dirty="0"/>
              <a:t>를 의미 있게 감소</a:t>
            </a:r>
            <a:r>
              <a:rPr lang="ko-KR" altLang="en-US" dirty="0"/>
              <a:t>시킬 수 있음을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특히 단순히 응답성만 개선하는 것이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공정성과 안전성</a:t>
            </a:r>
            <a:r>
              <a:rPr lang="en-US" altLang="ko-KR" b="1" dirty="0"/>
              <a:t>, </a:t>
            </a:r>
            <a:r>
              <a:rPr lang="ko-KR" altLang="en-US" b="1" dirty="0"/>
              <a:t>즉 </a:t>
            </a:r>
            <a:r>
              <a:rPr lang="en-US" altLang="ko-KR" b="1" dirty="0"/>
              <a:t>guardrail</a:t>
            </a:r>
            <a:r>
              <a:rPr lang="ko-KR" altLang="en-US" b="1" dirty="0"/>
              <a:t>을 함께 유지</a:t>
            </a:r>
            <a:r>
              <a:rPr lang="ko-KR" altLang="en-US" dirty="0"/>
              <a:t>하면서</a:t>
            </a:r>
            <a:br>
              <a:rPr lang="ko-KR" altLang="en-US" dirty="0"/>
            </a:br>
            <a:r>
              <a:rPr lang="ko-KR" altLang="en-US" dirty="0"/>
              <a:t>응답성을 향상시켰다는 점이 핵심적인 기여입니다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본 접근법은 고성능 서버 </a:t>
            </a:r>
            <a:r>
              <a:rPr lang="ko-KR" altLang="en-US" dirty="0" err="1"/>
              <a:t>환경뿐만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ko-KR" altLang="en-US" dirty="0"/>
              <a:t>자원이 제한된 </a:t>
            </a:r>
            <a:r>
              <a:rPr lang="ko-KR" altLang="en-US" b="1" dirty="0"/>
              <a:t>저전력 임베디드 시스템까지 폭넓게 적용 가능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SLO</a:t>
            </a:r>
            <a:r>
              <a:rPr lang="ko-KR" altLang="en-US" dirty="0"/>
              <a:t>를 중심으로 설계되는 현대 시스템에서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응답성을 고정된 정책이 아니라</a:t>
            </a:r>
            <a:br>
              <a:rPr lang="ko-KR" altLang="en-US" dirty="0"/>
            </a:br>
            <a:r>
              <a:rPr lang="ko-KR" altLang="en-US" b="1" dirty="0"/>
              <a:t>‘</a:t>
            </a:r>
            <a:r>
              <a:rPr lang="en-US" altLang="ko-KR" b="1" dirty="0"/>
              <a:t>responsiveness-as-a-knob’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즉 제어 가능한 설계 파라미터로 다루는 방향을 제시합니다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응답성과 공정성은 흔히 제로섬 관계로 인식되지만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본 연구는 이것이 반드시 그렇지 않다는 점을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적절한 </a:t>
            </a:r>
            <a:r>
              <a:rPr lang="ko-KR" altLang="en-US" b="1" dirty="0"/>
              <a:t>안전장치와 제어 메커니즘을 결합하면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두 목표를 동시에</a:t>
            </a:r>
            <a:r>
              <a:rPr lang="en-US" altLang="ko-KR" dirty="0"/>
              <a:t>, </a:t>
            </a:r>
            <a:r>
              <a:rPr lang="ko-KR" altLang="en-US" dirty="0"/>
              <a:t>그리고 안정적으로 최적화할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이것이 본 연구가 전달하고자 하는 핵심 메시지입니다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22464-E44D-4760-BBD7-3C20EC9BF4E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10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  <a:defRPr sz="4000" b="1">
                <a:solidFill>
                  <a:srgbClr val="142D5A"/>
                </a:solidFill>
              </a:defRPr>
            </a:pPr>
            <a:r>
              <a:rPr dirty="0"/>
              <a:t>BRS (Bounded Responsiveness Scheduler)</a:t>
            </a:r>
            <a:br>
              <a:rPr dirty="0"/>
            </a:br>
            <a:r>
              <a:rPr dirty="0" err="1"/>
              <a:t>실용적인</a:t>
            </a:r>
            <a:r>
              <a:t> 저지연 커널 스케줄링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1045433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323"/>
                </a:solidFill>
              </a:defRPr>
            </a:pPr>
            <a:r>
              <a:t>공정성과 에너지 효율을 보존하며 응답성을 최적화하는 새로운 접근법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1045433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발표자: 임근식   |   2026-01-03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서론: 배경 및 동기 (Motivation)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현대 시스템의 요구사항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XR(확장현실), 자율주행, 실시간 분석 등에서 100ms 미만 초저지연 요구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Tail latency 및 jitter가 사용자 체감 품질과 SLA에 직접 영향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기본 스케줄러(CFS)의 한계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공정성(Fairness)과 처리량(Throughput) 중심 설계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고부하/경쟁 상황에서 대화형 작업의 P95/P99 지연 급증</a:t>
            </a:r>
          </a:p>
        </p:txBody>
      </p:sp>
      <p:pic>
        <p:nvPicPr>
          <p:cNvPr id="7" name="Picture 6" descr="fig_tradeoff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17320"/>
            <a:ext cx="3931920" cy="26843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55778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Responsiveness–Fairness trade-off 개념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기존 연구의 한계 (Problem Statement)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상충 관계(Trade-off)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응답성을 높이면 공정성 또는 에너지 효율이 저하되는 문제가 자주 발생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편향이 커질수록 공정성(Jain’s index) 저하 및 기아(Starvation) 위험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기존 대안들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BFS, MuQSS 등은 대화형 성능을 개선하지만 공정성/확장성/운영성 측면 한계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Linux 메인라인/프로덕션 적용에 필요한 안전장치(guardrail) 부족</a:t>
            </a:r>
          </a:p>
        </p:txBody>
      </p:sp>
      <p:pic>
        <p:nvPicPr>
          <p:cNvPr id="7" name="Picture 6" descr="fig_tradeoff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80160"/>
            <a:ext cx="4343400" cy="2965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571500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β↑ → Responsiveness↑, Fairness↓ (개념도)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ounded Rectangle 2">
            <a:extLst>
              <a:ext uri="{FF2B5EF4-FFF2-40B4-BE49-F238E27FC236}">
                <a16:creationId xmlns:a16="http://schemas.microsoft.com/office/drawing/2014/main" id="{903D2C23-F477-788F-D8B3-D777B56C617D}"/>
              </a:ext>
            </a:extLst>
          </p:cNvPr>
          <p:cNvSpPr/>
          <p:nvPr/>
        </p:nvSpPr>
        <p:spPr>
          <a:xfrm>
            <a:off x="5615878" y="2097788"/>
            <a:ext cx="5383216" cy="3429000"/>
          </a:xfrm>
          <a:prstGeom prst="roundRect">
            <a:avLst>
              <a:gd name="adj" fmla="val 2351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8E8A89-A68E-B131-CE79-9D5B7F7A7122}"/>
              </a:ext>
            </a:extLst>
          </p:cNvPr>
          <p:cNvSpPr/>
          <p:nvPr/>
        </p:nvSpPr>
        <p:spPr>
          <a:xfrm>
            <a:off x="5568513" y="2973431"/>
            <a:ext cx="237694" cy="3539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제안 기술: BRS 핵심 메커니즘 (Key Concept)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762" y="1051560"/>
            <a:ext cx="4494999" cy="5212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개념</a:t>
            </a:r>
            <a:r>
              <a:rPr dirty="0"/>
              <a:t>: Bounded Bias(</a:t>
            </a:r>
            <a:r>
              <a:rPr dirty="0" err="1"/>
              <a:t>유계</a:t>
            </a:r>
            <a:r>
              <a:rPr dirty="0"/>
              <a:t> </a:t>
            </a:r>
            <a:r>
              <a:rPr dirty="0" err="1"/>
              <a:t>편향</a:t>
            </a:r>
            <a:r>
              <a:rPr dirty="0"/>
              <a:t>)</a:t>
            </a:r>
          </a:p>
          <a:p>
            <a:pPr lvl="1">
              <a:spcAft>
                <a:spcPts val="300"/>
              </a:spcAft>
              <a:defRPr sz="1900">
                <a:solidFill>
                  <a:srgbClr val="232323"/>
                </a:solidFill>
              </a:defRPr>
            </a:pPr>
            <a:r>
              <a:rPr dirty="0" err="1"/>
              <a:t>커널의</a:t>
            </a:r>
            <a:r>
              <a:rPr dirty="0"/>
              <a:t> task </a:t>
            </a:r>
            <a:r>
              <a:rPr dirty="0" err="1"/>
              <a:t>선택</a:t>
            </a:r>
            <a:r>
              <a:rPr dirty="0"/>
              <a:t> </a:t>
            </a:r>
            <a:r>
              <a:rPr dirty="0" err="1"/>
              <a:t>경로에</a:t>
            </a:r>
            <a:r>
              <a:rPr dirty="0"/>
              <a:t> ‘</a:t>
            </a:r>
            <a:r>
              <a:rPr dirty="0" err="1"/>
              <a:t>제어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편향’을</a:t>
            </a:r>
            <a:r>
              <a:rPr dirty="0"/>
              <a:t> </a:t>
            </a:r>
            <a:r>
              <a:rPr dirty="0" err="1"/>
              <a:t>넣어</a:t>
            </a:r>
            <a:r>
              <a:rPr dirty="0"/>
              <a:t> </a:t>
            </a:r>
            <a:r>
              <a:rPr dirty="0" err="1"/>
              <a:t>응답성을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  <a:p>
            <a:pPr lvl="1">
              <a:spcAft>
                <a:spcPts val="3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단, </a:t>
            </a:r>
            <a:r>
              <a:rPr dirty="0" err="1"/>
              <a:t>공정성</a:t>
            </a:r>
            <a:r>
              <a:rPr dirty="0"/>
              <a:t> </a:t>
            </a:r>
            <a:r>
              <a:rPr dirty="0" err="1"/>
              <a:t>하한</a:t>
            </a:r>
            <a:r>
              <a:rPr dirty="0"/>
              <a:t>(floor)과 </a:t>
            </a:r>
            <a:r>
              <a:rPr dirty="0" err="1"/>
              <a:t>기아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캡(cap)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안전성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2100">
                <a:solidFill>
                  <a:srgbClr val="232323"/>
                </a:solidFill>
              </a:defRPr>
            </a:pP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원리</a:t>
            </a:r>
            <a:endParaRPr dirty="0"/>
          </a:p>
          <a:p>
            <a:pPr lvl="1">
              <a:spcAft>
                <a:spcPts val="3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1) vruntime </a:t>
            </a:r>
            <a:r>
              <a:rPr dirty="0" err="1"/>
              <a:t>바이어싱</a:t>
            </a:r>
            <a:r>
              <a:rPr dirty="0"/>
              <a:t>: </a:t>
            </a:r>
            <a:r>
              <a:rPr dirty="0" err="1"/>
              <a:t>최근</a:t>
            </a:r>
            <a:r>
              <a:rPr dirty="0"/>
              <a:t> </a:t>
            </a:r>
            <a:r>
              <a:rPr dirty="0" err="1"/>
              <a:t>대화형</a:t>
            </a:r>
            <a:r>
              <a:rPr dirty="0"/>
              <a:t>(wakeup) </a:t>
            </a:r>
            <a:r>
              <a:rPr dirty="0" err="1"/>
              <a:t>작업에</a:t>
            </a:r>
            <a:r>
              <a:rPr dirty="0"/>
              <a:t> </a:t>
            </a:r>
            <a:r>
              <a:rPr dirty="0" err="1"/>
              <a:t>미세한</a:t>
            </a:r>
            <a:r>
              <a:rPr dirty="0"/>
              <a:t> </a:t>
            </a:r>
            <a:r>
              <a:rPr dirty="0" err="1"/>
              <a:t>우선순위</a:t>
            </a:r>
            <a:r>
              <a:rPr dirty="0"/>
              <a:t> </a:t>
            </a:r>
            <a:r>
              <a:rPr dirty="0" err="1"/>
              <a:t>부여</a:t>
            </a:r>
            <a:endParaRPr dirty="0"/>
          </a:p>
          <a:p>
            <a:pPr lvl="1">
              <a:spcAft>
                <a:spcPts val="3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2) Safety Rails: </a:t>
            </a:r>
            <a:r>
              <a:rPr dirty="0" err="1"/>
              <a:t>편향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제한</a:t>
            </a:r>
            <a:r>
              <a:rPr dirty="0"/>
              <a:t> + </a:t>
            </a:r>
            <a:r>
              <a:rPr dirty="0" err="1"/>
              <a:t>aging으로</a:t>
            </a:r>
            <a:r>
              <a:rPr dirty="0"/>
              <a:t> starvation </a:t>
            </a:r>
            <a:r>
              <a:rPr dirty="0" err="1"/>
              <a:t>방지</a:t>
            </a:r>
            <a:endParaRPr dirty="0"/>
          </a:p>
          <a:p>
            <a:pPr lvl="1">
              <a:spcAft>
                <a:spcPts val="300"/>
              </a:spcAft>
              <a:defRPr sz="1900">
                <a:solidFill>
                  <a:srgbClr val="232323"/>
                </a:solidFill>
              </a:defRPr>
            </a:pPr>
            <a:r>
              <a:rPr dirty="0"/>
              <a:t>3) Hybrid Controller: </a:t>
            </a:r>
            <a:r>
              <a:rPr dirty="0" err="1"/>
              <a:t>부하</a:t>
            </a:r>
            <a:r>
              <a:rPr dirty="0"/>
              <a:t>/</a:t>
            </a:r>
            <a:r>
              <a:rPr dirty="0" err="1"/>
              <a:t>공정성</a:t>
            </a:r>
            <a:r>
              <a:rPr dirty="0"/>
              <a:t> </a:t>
            </a:r>
            <a:r>
              <a:rPr dirty="0" err="1"/>
              <a:t>상태에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bias를</a:t>
            </a:r>
            <a:r>
              <a:rPr dirty="0"/>
              <a:t> </a:t>
            </a:r>
            <a:r>
              <a:rPr dirty="0" err="1"/>
              <a:t>동적</a:t>
            </a:r>
            <a:r>
              <a:rPr dirty="0"/>
              <a:t> </a:t>
            </a:r>
            <a:r>
              <a:rPr dirty="0" err="1"/>
              <a:t>조절</a:t>
            </a:r>
            <a:endParaRPr dirty="0"/>
          </a:p>
        </p:txBody>
      </p:sp>
      <p:sp>
        <p:nvSpPr>
          <p:cNvPr id="50" name="Rounded Rectangle 1">
            <a:extLst>
              <a:ext uri="{FF2B5EF4-FFF2-40B4-BE49-F238E27FC236}">
                <a16:creationId xmlns:a16="http://schemas.microsoft.com/office/drawing/2014/main" id="{6DEAC629-B85A-B8FA-99B1-47B2076614EB}"/>
              </a:ext>
            </a:extLst>
          </p:cNvPr>
          <p:cNvSpPr/>
          <p:nvPr/>
        </p:nvSpPr>
        <p:spPr>
          <a:xfrm>
            <a:off x="6165843" y="1171360"/>
            <a:ext cx="4341303" cy="49876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chemeClr val="tx1"/>
                </a:solidFill>
              </a:rPr>
              <a:t>User Space</a:t>
            </a:r>
          </a:p>
        </p:txBody>
      </p:sp>
      <p:sp>
        <p:nvSpPr>
          <p:cNvPr id="52" name="Rounded Rectangle 3">
            <a:extLst>
              <a:ext uri="{FF2B5EF4-FFF2-40B4-BE49-F238E27FC236}">
                <a16:creationId xmlns:a16="http://schemas.microsoft.com/office/drawing/2014/main" id="{C7855C3D-A5B9-9970-941F-FFA88D44534A}"/>
              </a:ext>
            </a:extLst>
          </p:cNvPr>
          <p:cNvSpPr/>
          <p:nvPr/>
        </p:nvSpPr>
        <p:spPr>
          <a:xfrm>
            <a:off x="5905298" y="2534206"/>
            <a:ext cx="4625895" cy="872836"/>
          </a:xfrm>
          <a:prstGeom prst="roundRect">
            <a:avLst>
              <a:gd name="adj" fmla="val 11153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600" b="1" dirty="0">
                <a:solidFill>
                  <a:schemeClr val="tx1"/>
                </a:solidFill>
              </a:rPr>
              <a:t>Kernel-Level BRS Architecture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endParaRPr b="1" i="1" dirty="0">
              <a:solidFill>
                <a:schemeClr val="tx1"/>
              </a:solidFill>
            </a:endParaRP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52FF86D7-9AAF-65DF-42FE-951A998E921E}"/>
              </a:ext>
            </a:extLst>
          </p:cNvPr>
          <p:cNvSpPr/>
          <p:nvPr/>
        </p:nvSpPr>
        <p:spPr>
          <a:xfrm>
            <a:off x="5395161" y="3656424"/>
            <a:ext cx="2015122" cy="1246909"/>
          </a:xfrm>
          <a:prstGeom prst="roundRect">
            <a:avLst>
              <a:gd name="adj" fmla="val 7404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59" name="Rounded Rectangle 5">
            <a:extLst>
              <a:ext uri="{FF2B5EF4-FFF2-40B4-BE49-F238E27FC236}">
                <a16:creationId xmlns:a16="http://schemas.microsoft.com/office/drawing/2014/main" id="{739135F1-05CC-39D9-65C4-6E057A94A81C}"/>
              </a:ext>
            </a:extLst>
          </p:cNvPr>
          <p:cNvSpPr/>
          <p:nvPr/>
        </p:nvSpPr>
        <p:spPr>
          <a:xfrm>
            <a:off x="5539938" y="3944306"/>
            <a:ext cx="475389" cy="24938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i="1" dirty="0">
                <a:solidFill>
                  <a:schemeClr val="tx1"/>
                </a:solidFill>
              </a:rPr>
              <a:t>T1</a:t>
            </a:r>
          </a:p>
        </p:txBody>
      </p:sp>
      <p:sp>
        <p:nvSpPr>
          <p:cNvPr id="60" name="Rounded Rectangle 6">
            <a:extLst>
              <a:ext uri="{FF2B5EF4-FFF2-40B4-BE49-F238E27FC236}">
                <a16:creationId xmlns:a16="http://schemas.microsoft.com/office/drawing/2014/main" id="{5FE96927-55EA-8608-47AD-F0FE4BBDAAE2}"/>
              </a:ext>
            </a:extLst>
          </p:cNvPr>
          <p:cNvSpPr/>
          <p:nvPr/>
        </p:nvSpPr>
        <p:spPr>
          <a:xfrm>
            <a:off x="5539938" y="4256033"/>
            <a:ext cx="475389" cy="24938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i="1" dirty="0">
                <a:solidFill>
                  <a:schemeClr val="tx1"/>
                </a:solidFill>
              </a:rPr>
              <a:t>T2</a:t>
            </a:r>
          </a:p>
        </p:txBody>
      </p:sp>
      <p:sp>
        <p:nvSpPr>
          <p:cNvPr id="62" name="Rounded Rectangle 7">
            <a:extLst>
              <a:ext uri="{FF2B5EF4-FFF2-40B4-BE49-F238E27FC236}">
                <a16:creationId xmlns:a16="http://schemas.microsoft.com/office/drawing/2014/main" id="{006EA6E0-C072-652C-7B6A-6EDC427CDC65}"/>
              </a:ext>
            </a:extLst>
          </p:cNvPr>
          <p:cNvSpPr/>
          <p:nvPr/>
        </p:nvSpPr>
        <p:spPr>
          <a:xfrm>
            <a:off x="5539938" y="4567761"/>
            <a:ext cx="475389" cy="24938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i="1" dirty="0">
                <a:solidFill>
                  <a:schemeClr val="tx1"/>
                </a:solidFill>
              </a:rPr>
              <a:t>T3</a:t>
            </a:r>
          </a:p>
        </p:txBody>
      </p:sp>
      <p:sp>
        <p:nvSpPr>
          <p:cNvPr id="63" name="Rounded Rectangle 8">
            <a:extLst>
              <a:ext uri="{FF2B5EF4-FFF2-40B4-BE49-F238E27FC236}">
                <a16:creationId xmlns:a16="http://schemas.microsoft.com/office/drawing/2014/main" id="{18D7B8D9-973D-798A-77AC-5445DF151C1C}"/>
              </a:ext>
            </a:extLst>
          </p:cNvPr>
          <p:cNvSpPr/>
          <p:nvPr/>
        </p:nvSpPr>
        <p:spPr>
          <a:xfrm>
            <a:off x="7815472" y="3968153"/>
            <a:ext cx="1447101" cy="472384"/>
          </a:xfrm>
          <a:prstGeom prst="roundRect">
            <a:avLst>
              <a:gd name="adj" fmla="val 11521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i="1" dirty="0">
                <a:solidFill>
                  <a:schemeClr val="tx1"/>
                </a:solidFill>
              </a:rPr>
              <a:t>B</a:t>
            </a:r>
            <a:r>
              <a:rPr i="1" dirty="0">
                <a:solidFill>
                  <a:schemeClr val="tx1"/>
                </a:solidFill>
              </a:rPr>
              <a:t>ounded</a:t>
            </a:r>
            <a:br>
              <a:rPr i="1" dirty="0">
                <a:solidFill>
                  <a:schemeClr val="tx1"/>
                </a:solidFill>
              </a:rPr>
            </a:br>
            <a:r>
              <a:rPr b="1" i="1" dirty="0">
                <a:solidFill>
                  <a:schemeClr val="tx1"/>
                </a:solidFill>
              </a:rPr>
              <a:t>vruntime</a:t>
            </a:r>
          </a:p>
        </p:txBody>
      </p:sp>
      <p:sp>
        <p:nvSpPr>
          <p:cNvPr id="2048" name="Rounded Rectangle 9">
            <a:extLst>
              <a:ext uri="{FF2B5EF4-FFF2-40B4-BE49-F238E27FC236}">
                <a16:creationId xmlns:a16="http://schemas.microsoft.com/office/drawing/2014/main" id="{FDBDB531-B700-F68D-4E3D-BB4879D32411}"/>
              </a:ext>
            </a:extLst>
          </p:cNvPr>
          <p:cNvSpPr/>
          <p:nvPr/>
        </p:nvSpPr>
        <p:spPr>
          <a:xfrm>
            <a:off x="7507435" y="4699443"/>
            <a:ext cx="1823148" cy="737497"/>
          </a:xfrm>
          <a:prstGeom prst="roundRect">
            <a:avLst>
              <a:gd name="adj" fmla="val 9805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lang="en-US" sz="1400" b="1" dirty="0">
                <a:solidFill>
                  <a:schemeClr val="tx1"/>
                </a:solidFill>
              </a:rPr>
              <a:t>       </a:t>
            </a:r>
            <a:r>
              <a:rPr sz="1400" b="1" dirty="0">
                <a:solidFill>
                  <a:schemeClr val="tx1"/>
                </a:solidFill>
              </a:rPr>
              <a:t>Safety Rails</a:t>
            </a:r>
            <a:br>
              <a:rPr sz="11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Fairness Floor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Starvation Shield</a:t>
            </a:r>
            <a:endParaRPr sz="1100" dirty="0">
              <a:solidFill>
                <a:schemeClr val="tx1"/>
              </a:solidFill>
            </a:endParaRPr>
          </a:p>
        </p:txBody>
      </p:sp>
      <p:sp>
        <p:nvSpPr>
          <p:cNvPr id="2049" name="Rounded Rectangle 10">
            <a:extLst>
              <a:ext uri="{FF2B5EF4-FFF2-40B4-BE49-F238E27FC236}">
                <a16:creationId xmlns:a16="http://schemas.microsoft.com/office/drawing/2014/main" id="{628205B8-171D-08FD-55CA-8E0E9921ADE6}"/>
              </a:ext>
            </a:extLst>
          </p:cNvPr>
          <p:cNvSpPr/>
          <p:nvPr/>
        </p:nvSpPr>
        <p:spPr>
          <a:xfrm>
            <a:off x="9391063" y="3661453"/>
            <a:ext cx="1509617" cy="1241880"/>
          </a:xfrm>
          <a:prstGeom prst="roundRect">
            <a:avLst>
              <a:gd name="adj" fmla="val 6375"/>
            </a:avLst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endParaRPr lang="en-US" sz="1400" b="1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lang="en-US" sz="1400" b="1" dirty="0">
                <a:solidFill>
                  <a:schemeClr val="tx1"/>
                </a:solidFill>
              </a:rPr>
              <a:t>    </a:t>
            </a:r>
            <a:r>
              <a:rPr sz="1400" b="1" dirty="0">
                <a:solidFill>
                  <a:schemeClr val="tx1"/>
                </a:solidFill>
              </a:rPr>
              <a:t>Task Selection</a:t>
            </a:r>
            <a:r>
              <a:rPr lang="en-US" sz="1400" b="1" dirty="0">
                <a:solidFill>
                  <a:schemeClr val="tx1"/>
                </a:solidFill>
              </a:rPr>
              <a:t> </a:t>
            </a:r>
            <a:br>
              <a:rPr lang="en-US" sz="1400" b="1" dirty="0">
                <a:solidFill>
                  <a:schemeClr val="tx1"/>
                </a:solidFill>
              </a:rPr>
            </a:br>
            <a:r>
              <a:rPr sz="1400" b="1" dirty="0">
                <a:solidFill>
                  <a:schemeClr val="tx1"/>
                </a:solidFill>
              </a:rPr>
              <a:t> </a:t>
            </a:r>
            <a:r>
              <a:rPr lang="en-US" sz="1400" b="1" dirty="0">
                <a:solidFill>
                  <a:schemeClr val="tx1"/>
                </a:solidFill>
              </a:rPr>
              <a:t>      </a:t>
            </a:r>
            <a:r>
              <a:rPr sz="1400" b="1" dirty="0">
                <a:solidFill>
                  <a:schemeClr val="tx1"/>
                </a:solidFill>
              </a:rPr>
              <a:t>Path</a:t>
            </a:r>
            <a:endParaRPr lang="en-US" sz="1400" b="1" dirty="0">
              <a:solidFill>
                <a:schemeClr val="tx1"/>
              </a:solidFill>
            </a:endParaRPr>
          </a:p>
          <a:p>
            <a:pPr>
              <a:defRPr sz="1400"/>
            </a:pPr>
            <a:endParaRPr lang="en-US" sz="1200" b="1" dirty="0">
              <a:solidFill>
                <a:schemeClr val="tx1"/>
              </a:solidFill>
            </a:endParaRPr>
          </a:p>
          <a:p>
            <a:pPr>
              <a:defRPr sz="1400"/>
            </a:pP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Fairness Floor</a:t>
            </a:r>
            <a:br>
              <a:rPr sz="1200" dirty="0">
                <a:solidFill>
                  <a:schemeClr val="tx1"/>
                </a:solidFill>
              </a:rPr>
            </a:br>
            <a:r>
              <a:rPr sz="1200" dirty="0">
                <a:solidFill>
                  <a:schemeClr val="tx1"/>
                </a:solidFill>
              </a:rPr>
              <a:t>• Starvation Shield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defRPr sz="1400"/>
            </a:pPr>
            <a:endParaRPr sz="1200" dirty="0">
              <a:solidFill>
                <a:schemeClr val="tx1"/>
              </a:solidFill>
            </a:endParaRPr>
          </a:p>
        </p:txBody>
      </p:sp>
      <p:cxnSp>
        <p:nvCxnSpPr>
          <p:cNvPr id="2053" name="Connector 12">
            <a:extLst>
              <a:ext uri="{FF2B5EF4-FFF2-40B4-BE49-F238E27FC236}">
                <a16:creationId xmlns:a16="http://schemas.microsoft.com/office/drawing/2014/main" id="{E74C5443-4262-A739-3D29-418A1BA1F355}"/>
              </a:ext>
            </a:extLst>
          </p:cNvPr>
          <p:cNvCxnSpPr>
            <a:cxnSpLocks/>
          </p:cNvCxnSpPr>
          <p:nvPr/>
        </p:nvCxnSpPr>
        <p:spPr>
          <a:xfrm>
            <a:off x="7408411" y="4217533"/>
            <a:ext cx="40946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4" name="Connector 13">
            <a:extLst>
              <a:ext uri="{FF2B5EF4-FFF2-40B4-BE49-F238E27FC236}">
                <a16:creationId xmlns:a16="http://schemas.microsoft.com/office/drawing/2014/main" id="{CE2DB848-7903-BC4C-7B7B-014BA1D714E4}"/>
              </a:ext>
            </a:extLst>
          </p:cNvPr>
          <p:cNvCxnSpPr>
            <a:cxnSpLocks/>
          </p:cNvCxnSpPr>
          <p:nvPr/>
        </p:nvCxnSpPr>
        <p:spPr>
          <a:xfrm flipV="1">
            <a:off x="8510080" y="3407043"/>
            <a:ext cx="0" cy="56110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" name="Connector 15">
            <a:extLst>
              <a:ext uri="{FF2B5EF4-FFF2-40B4-BE49-F238E27FC236}">
                <a16:creationId xmlns:a16="http://schemas.microsoft.com/office/drawing/2014/main" id="{40AE8D98-B6BA-7607-47E2-960123DD7DEC}"/>
              </a:ext>
            </a:extLst>
          </p:cNvPr>
          <p:cNvCxnSpPr>
            <a:cxnSpLocks/>
          </p:cNvCxnSpPr>
          <p:nvPr/>
        </p:nvCxnSpPr>
        <p:spPr>
          <a:xfrm>
            <a:off x="9267137" y="4227158"/>
            <a:ext cx="280159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6" name="Connector 16">
            <a:extLst>
              <a:ext uri="{FF2B5EF4-FFF2-40B4-BE49-F238E27FC236}">
                <a16:creationId xmlns:a16="http://schemas.microsoft.com/office/drawing/2014/main" id="{2BD5975F-2F95-3560-6822-199A4A9DAF58}"/>
              </a:ext>
            </a:extLst>
          </p:cNvPr>
          <p:cNvCxnSpPr>
            <a:cxnSpLocks/>
          </p:cNvCxnSpPr>
          <p:nvPr/>
        </p:nvCxnSpPr>
        <p:spPr>
          <a:xfrm>
            <a:off x="10829863" y="4217095"/>
            <a:ext cx="33899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8" name="TextBox 2057">
            <a:extLst>
              <a:ext uri="{FF2B5EF4-FFF2-40B4-BE49-F238E27FC236}">
                <a16:creationId xmlns:a16="http://schemas.microsoft.com/office/drawing/2014/main" id="{2A70079E-5015-3EFE-1109-994DD16BF199}"/>
              </a:ext>
            </a:extLst>
          </p:cNvPr>
          <p:cNvSpPr txBox="1"/>
          <p:nvPr/>
        </p:nvSpPr>
        <p:spPr>
          <a:xfrm>
            <a:off x="9617382" y="1784368"/>
            <a:ext cx="1788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i="1" dirty="0">
                <a:solidFill>
                  <a:schemeClr val="tx1"/>
                </a:solidFill>
              </a:rPr>
              <a:t>Hybrid Adaptive Control</a:t>
            </a:r>
            <a:endParaRPr lang="ko-KR" altLang="en-US" sz="1200" i="1" dirty="0"/>
          </a:p>
        </p:txBody>
      </p:sp>
      <p:sp>
        <p:nvSpPr>
          <p:cNvPr id="2059" name="TextBox 2058">
            <a:extLst>
              <a:ext uri="{FF2B5EF4-FFF2-40B4-BE49-F238E27FC236}">
                <a16:creationId xmlns:a16="http://schemas.microsoft.com/office/drawing/2014/main" id="{77BD7658-A43E-A1DA-8555-D2719F806152}"/>
              </a:ext>
            </a:extLst>
          </p:cNvPr>
          <p:cNvSpPr txBox="1"/>
          <p:nvPr/>
        </p:nvSpPr>
        <p:spPr>
          <a:xfrm>
            <a:off x="7926217" y="2203194"/>
            <a:ext cx="8783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Kernel</a:t>
            </a:r>
            <a:endParaRPr lang="ko-KR" altLang="en-US" sz="1600" dirty="0"/>
          </a:p>
        </p:txBody>
      </p:sp>
      <p:pic>
        <p:nvPicPr>
          <p:cNvPr id="2060" name="그림 205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AA0E830-0A37-A726-8DF5-83FCB1CC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410" y="4005685"/>
            <a:ext cx="608830" cy="449250"/>
          </a:xfrm>
          <a:prstGeom prst="rect">
            <a:avLst/>
          </a:prstGeom>
        </p:spPr>
      </p:pic>
      <p:sp>
        <p:nvSpPr>
          <p:cNvPr id="2061" name="TextBox 2060">
            <a:extLst>
              <a:ext uri="{FF2B5EF4-FFF2-40B4-BE49-F238E27FC236}">
                <a16:creationId xmlns:a16="http://schemas.microsoft.com/office/drawing/2014/main" id="{D2AFA7C1-C1A6-89E7-4162-F8D3359570F5}"/>
              </a:ext>
            </a:extLst>
          </p:cNvPr>
          <p:cNvSpPr txBox="1"/>
          <p:nvPr/>
        </p:nvSpPr>
        <p:spPr>
          <a:xfrm>
            <a:off x="11125103" y="4501041"/>
            <a:ext cx="705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lang="en-US" altLang="ko-KR" dirty="0">
                <a:solidFill>
                  <a:schemeClr val="tx1"/>
                </a:solidFill>
              </a:rPr>
              <a:t>Run on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45BCCABF-CAD2-6B43-BF3F-1090AE255ACB}"/>
              </a:ext>
            </a:extLst>
          </p:cNvPr>
          <p:cNvSpPr txBox="1"/>
          <p:nvPr/>
        </p:nvSpPr>
        <p:spPr>
          <a:xfrm>
            <a:off x="5579748" y="3661453"/>
            <a:ext cx="1292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Ready Queue</a:t>
            </a:r>
          </a:p>
        </p:txBody>
      </p:sp>
      <p:cxnSp>
        <p:nvCxnSpPr>
          <p:cNvPr id="2063" name="Connector 13">
            <a:extLst>
              <a:ext uri="{FF2B5EF4-FFF2-40B4-BE49-F238E27FC236}">
                <a16:creationId xmlns:a16="http://schemas.microsoft.com/office/drawing/2014/main" id="{5C483980-1AE5-36B2-736F-5E6371B71098}"/>
              </a:ext>
            </a:extLst>
          </p:cNvPr>
          <p:cNvCxnSpPr>
            <a:cxnSpLocks/>
          </p:cNvCxnSpPr>
          <p:nvPr/>
        </p:nvCxnSpPr>
        <p:spPr>
          <a:xfrm flipV="1">
            <a:off x="6766303" y="3408121"/>
            <a:ext cx="0" cy="56110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4" name="Connector 13">
            <a:extLst>
              <a:ext uri="{FF2B5EF4-FFF2-40B4-BE49-F238E27FC236}">
                <a16:creationId xmlns:a16="http://schemas.microsoft.com/office/drawing/2014/main" id="{FB6F43B6-B244-F465-B2F8-A3089EAA118B}"/>
              </a:ext>
            </a:extLst>
          </p:cNvPr>
          <p:cNvCxnSpPr>
            <a:cxnSpLocks/>
          </p:cNvCxnSpPr>
          <p:nvPr/>
        </p:nvCxnSpPr>
        <p:spPr>
          <a:xfrm flipV="1">
            <a:off x="10018038" y="3400417"/>
            <a:ext cx="0" cy="26176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5" name="Rounded Rectangle 8">
            <a:extLst>
              <a:ext uri="{FF2B5EF4-FFF2-40B4-BE49-F238E27FC236}">
                <a16:creationId xmlns:a16="http://schemas.microsoft.com/office/drawing/2014/main" id="{82793B2C-1244-CC87-85E4-4BE54A194528}"/>
              </a:ext>
            </a:extLst>
          </p:cNvPr>
          <p:cNvSpPr/>
          <p:nvPr/>
        </p:nvSpPr>
        <p:spPr>
          <a:xfrm>
            <a:off x="9551994" y="4130177"/>
            <a:ext cx="885506" cy="221672"/>
          </a:xfrm>
          <a:prstGeom prst="roundRect">
            <a:avLst>
              <a:gd name="adj" fmla="val 11521"/>
            </a:avLst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lang="en-US" sz="1300" dirty="0">
                <a:solidFill>
                  <a:schemeClr val="tx1"/>
                </a:solidFill>
              </a:rPr>
              <a:t>Next Task</a:t>
            </a:r>
            <a:endParaRPr sz="1300" b="1" i="1" dirty="0">
              <a:solidFill>
                <a:schemeClr val="tx1"/>
              </a:solidFill>
            </a:endParaRPr>
          </a:p>
        </p:txBody>
      </p:sp>
      <p:pic>
        <p:nvPicPr>
          <p:cNvPr id="2068" name="Picture 2" descr="톱니바퀴 - 무료 비즈니스 및 금융개 아이콘">
            <a:extLst>
              <a:ext uri="{FF2B5EF4-FFF2-40B4-BE49-F238E27FC236}">
                <a16:creationId xmlns:a16="http://schemas.microsoft.com/office/drawing/2014/main" id="{7BE79EF0-BB8D-CAA6-9CDD-427D9376F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5630" y="4042515"/>
            <a:ext cx="284823" cy="28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9" name="Connector 15">
            <a:extLst>
              <a:ext uri="{FF2B5EF4-FFF2-40B4-BE49-F238E27FC236}">
                <a16:creationId xmlns:a16="http://schemas.microsoft.com/office/drawing/2014/main" id="{F3C7D692-2B96-D0CC-0AAD-0113BA0FA053}"/>
              </a:ext>
            </a:extLst>
          </p:cNvPr>
          <p:cNvCxnSpPr>
            <a:cxnSpLocks/>
          </p:cNvCxnSpPr>
          <p:nvPr/>
        </p:nvCxnSpPr>
        <p:spPr>
          <a:xfrm>
            <a:off x="10387238" y="4204609"/>
            <a:ext cx="19135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0" name="Connector 13">
            <a:extLst>
              <a:ext uri="{FF2B5EF4-FFF2-40B4-BE49-F238E27FC236}">
                <a16:creationId xmlns:a16="http://schemas.microsoft.com/office/drawing/2014/main" id="{B4CF55BA-8E2E-1AD8-958D-4DEA00AE7352}"/>
              </a:ext>
            </a:extLst>
          </p:cNvPr>
          <p:cNvCxnSpPr>
            <a:cxnSpLocks/>
          </p:cNvCxnSpPr>
          <p:nvPr/>
        </p:nvCxnSpPr>
        <p:spPr>
          <a:xfrm flipV="1">
            <a:off x="8508416" y="4421520"/>
            <a:ext cx="0" cy="26176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1" name="직선 연결선 2070">
            <a:extLst>
              <a:ext uri="{FF2B5EF4-FFF2-40B4-BE49-F238E27FC236}">
                <a16:creationId xmlns:a16="http://schemas.microsoft.com/office/drawing/2014/main" id="{1E504B9E-DDDD-43F5-AC8D-0A5A7E0E7DCB}"/>
              </a:ext>
            </a:extLst>
          </p:cNvPr>
          <p:cNvCxnSpPr>
            <a:cxnSpLocks/>
          </p:cNvCxnSpPr>
          <p:nvPr/>
        </p:nvCxnSpPr>
        <p:spPr>
          <a:xfrm>
            <a:off x="6225860" y="3975440"/>
            <a:ext cx="118442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4" name="직선 연결선 2073">
            <a:extLst>
              <a:ext uri="{FF2B5EF4-FFF2-40B4-BE49-F238E27FC236}">
                <a16:creationId xmlns:a16="http://schemas.microsoft.com/office/drawing/2014/main" id="{7799CB90-1AEB-D099-5DC6-AAFC9240A976}"/>
              </a:ext>
            </a:extLst>
          </p:cNvPr>
          <p:cNvCxnSpPr>
            <a:cxnSpLocks/>
          </p:cNvCxnSpPr>
          <p:nvPr/>
        </p:nvCxnSpPr>
        <p:spPr>
          <a:xfrm>
            <a:off x="6026100" y="4081885"/>
            <a:ext cx="19976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5" name="직선 연결선 2074">
            <a:extLst>
              <a:ext uri="{FF2B5EF4-FFF2-40B4-BE49-F238E27FC236}">
                <a16:creationId xmlns:a16="http://schemas.microsoft.com/office/drawing/2014/main" id="{8CCB3E2F-877E-C7A1-C78B-2D0950C09930}"/>
              </a:ext>
            </a:extLst>
          </p:cNvPr>
          <p:cNvCxnSpPr>
            <a:cxnSpLocks/>
          </p:cNvCxnSpPr>
          <p:nvPr/>
        </p:nvCxnSpPr>
        <p:spPr>
          <a:xfrm>
            <a:off x="6015327" y="4380724"/>
            <a:ext cx="19976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7" name="직선 연결선 2076">
            <a:extLst>
              <a:ext uri="{FF2B5EF4-FFF2-40B4-BE49-F238E27FC236}">
                <a16:creationId xmlns:a16="http://schemas.microsoft.com/office/drawing/2014/main" id="{A2A55669-A217-6F62-05B7-8B5C8726ED3F}"/>
              </a:ext>
            </a:extLst>
          </p:cNvPr>
          <p:cNvCxnSpPr>
            <a:cxnSpLocks/>
          </p:cNvCxnSpPr>
          <p:nvPr/>
        </p:nvCxnSpPr>
        <p:spPr>
          <a:xfrm>
            <a:off x="6026100" y="4709169"/>
            <a:ext cx="19976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8" name="직선 연결선 2077">
            <a:extLst>
              <a:ext uri="{FF2B5EF4-FFF2-40B4-BE49-F238E27FC236}">
                <a16:creationId xmlns:a16="http://schemas.microsoft.com/office/drawing/2014/main" id="{74D17D1E-8932-4453-C874-D852CD77016C}"/>
              </a:ext>
            </a:extLst>
          </p:cNvPr>
          <p:cNvCxnSpPr>
            <a:cxnSpLocks/>
          </p:cNvCxnSpPr>
          <p:nvPr/>
        </p:nvCxnSpPr>
        <p:spPr>
          <a:xfrm flipV="1">
            <a:off x="6207375" y="3969916"/>
            <a:ext cx="0" cy="735723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9" name="직선 연결선 2078">
            <a:extLst>
              <a:ext uri="{FF2B5EF4-FFF2-40B4-BE49-F238E27FC236}">
                <a16:creationId xmlns:a16="http://schemas.microsoft.com/office/drawing/2014/main" id="{F72B5D58-3A3B-3EFD-0A0C-3E7B7067FC2C}"/>
              </a:ext>
            </a:extLst>
          </p:cNvPr>
          <p:cNvCxnSpPr>
            <a:cxnSpLocks/>
          </p:cNvCxnSpPr>
          <p:nvPr/>
        </p:nvCxnSpPr>
        <p:spPr>
          <a:xfrm>
            <a:off x="6200822" y="4204609"/>
            <a:ext cx="117586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0" name="Connector 13">
            <a:extLst>
              <a:ext uri="{FF2B5EF4-FFF2-40B4-BE49-F238E27FC236}">
                <a16:creationId xmlns:a16="http://schemas.microsoft.com/office/drawing/2014/main" id="{65C3D857-AA5D-ED36-47A7-33EB0C46AEAD}"/>
              </a:ext>
            </a:extLst>
          </p:cNvPr>
          <p:cNvCxnSpPr>
            <a:cxnSpLocks/>
          </p:cNvCxnSpPr>
          <p:nvPr/>
        </p:nvCxnSpPr>
        <p:spPr>
          <a:xfrm flipV="1">
            <a:off x="8495701" y="1672518"/>
            <a:ext cx="0" cy="421571"/>
          </a:xfrm>
          <a:prstGeom prst="line">
            <a:avLst/>
          </a:prstGeom>
          <a:ln>
            <a:solidFill>
              <a:schemeClr val="tx1"/>
            </a:solidFill>
            <a:prstDash val="sysDot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1" name="Connector 13">
            <a:extLst>
              <a:ext uri="{FF2B5EF4-FFF2-40B4-BE49-F238E27FC236}">
                <a16:creationId xmlns:a16="http://schemas.microsoft.com/office/drawing/2014/main" id="{225C82AA-DE60-5139-FD99-B8C9A19304A4}"/>
              </a:ext>
            </a:extLst>
          </p:cNvPr>
          <p:cNvCxnSpPr>
            <a:cxnSpLocks/>
          </p:cNvCxnSpPr>
          <p:nvPr/>
        </p:nvCxnSpPr>
        <p:spPr>
          <a:xfrm flipH="1">
            <a:off x="5060243" y="2874374"/>
            <a:ext cx="845055" cy="0"/>
          </a:xfrm>
          <a:prstGeom prst="line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3" name="직선 연결선 2082">
            <a:extLst>
              <a:ext uri="{FF2B5EF4-FFF2-40B4-BE49-F238E27FC236}">
                <a16:creationId xmlns:a16="http://schemas.microsoft.com/office/drawing/2014/main" id="{A5572998-6323-DB26-8E9E-B5E17DFEBF31}"/>
              </a:ext>
            </a:extLst>
          </p:cNvPr>
          <p:cNvCxnSpPr>
            <a:cxnSpLocks/>
          </p:cNvCxnSpPr>
          <p:nvPr/>
        </p:nvCxnSpPr>
        <p:spPr>
          <a:xfrm>
            <a:off x="5777632" y="1892928"/>
            <a:ext cx="360057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4" name="직선 연결선 2083">
            <a:extLst>
              <a:ext uri="{FF2B5EF4-FFF2-40B4-BE49-F238E27FC236}">
                <a16:creationId xmlns:a16="http://schemas.microsoft.com/office/drawing/2014/main" id="{1B7DF205-527A-554D-B5E7-B4E9E99133DE}"/>
              </a:ext>
            </a:extLst>
          </p:cNvPr>
          <p:cNvCxnSpPr>
            <a:cxnSpLocks/>
          </p:cNvCxnSpPr>
          <p:nvPr/>
        </p:nvCxnSpPr>
        <p:spPr>
          <a:xfrm flipH="1">
            <a:off x="5453599" y="2222934"/>
            <a:ext cx="11555" cy="5377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5" name="연결선: 구부러짐 2084">
            <a:extLst>
              <a:ext uri="{FF2B5EF4-FFF2-40B4-BE49-F238E27FC236}">
                <a16:creationId xmlns:a16="http://schemas.microsoft.com/office/drawing/2014/main" id="{41977215-8B28-81D3-A44F-DB7A3C2A0742}"/>
              </a:ext>
            </a:extLst>
          </p:cNvPr>
          <p:cNvCxnSpPr>
            <a:cxnSpLocks/>
          </p:cNvCxnSpPr>
          <p:nvPr/>
        </p:nvCxnSpPr>
        <p:spPr>
          <a:xfrm>
            <a:off x="9378208" y="1892928"/>
            <a:ext cx="242210" cy="204860"/>
          </a:xfrm>
          <a:prstGeom prst="curvedConnector3">
            <a:avLst>
              <a:gd name="adj1" fmla="val 93713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6" name="타원 2085">
            <a:extLst>
              <a:ext uri="{FF2B5EF4-FFF2-40B4-BE49-F238E27FC236}">
                <a16:creationId xmlns:a16="http://schemas.microsoft.com/office/drawing/2014/main" id="{0F8076D1-61B8-77A7-35C1-9633CDA33261}"/>
              </a:ext>
            </a:extLst>
          </p:cNvPr>
          <p:cNvSpPr/>
          <p:nvPr/>
        </p:nvSpPr>
        <p:spPr>
          <a:xfrm>
            <a:off x="9580797" y="2055031"/>
            <a:ext cx="79241" cy="85514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87" name="연결선: 구부러짐 2086">
            <a:extLst>
              <a:ext uri="{FF2B5EF4-FFF2-40B4-BE49-F238E27FC236}">
                <a16:creationId xmlns:a16="http://schemas.microsoft.com/office/drawing/2014/main" id="{6BDEFE5B-5620-D726-6FB2-F9EBBE2403AD}"/>
              </a:ext>
            </a:extLst>
          </p:cNvPr>
          <p:cNvCxnSpPr>
            <a:cxnSpLocks/>
          </p:cNvCxnSpPr>
          <p:nvPr/>
        </p:nvCxnSpPr>
        <p:spPr>
          <a:xfrm rot="5400000">
            <a:off x="5442461" y="1915623"/>
            <a:ext cx="338617" cy="293230"/>
          </a:xfrm>
          <a:prstGeom prst="curvedConnector3">
            <a:avLst>
              <a:gd name="adj1" fmla="val 1679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8" name="직선 연결선 2087">
            <a:extLst>
              <a:ext uri="{FF2B5EF4-FFF2-40B4-BE49-F238E27FC236}">
                <a16:creationId xmlns:a16="http://schemas.microsoft.com/office/drawing/2014/main" id="{F83328FB-7528-6AF2-14B9-DA7C0616D3E1}"/>
              </a:ext>
            </a:extLst>
          </p:cNvPr>
          <p:cNvCxnSpPr>
            <a:cxnSpLocks/>
          </p:cNvCxnSpPr>
          <p:nvPr/>
        </p:nvCxnSpPr>
        <p:spPr>
          <a:xfrm>
            <a:off x="6876574" y="3094482"/>
            <a:ext cx="29756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1" name="연결선: 구부러짐 2090">
            <a:extLst>
              <a:ext uri="{FF2B5EF4-FFF2-40B4-BE49-F238E27FC236}">
                <a16:creationId xmlns:a16="http://schemas.microsoft.com/office/drawing/2014/main" id="{225604ED-3F01-12C3-5D99-3F5BE1A7CC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82827" y="3163911"/>
            <a:ext cx="304642" cy="165783"/>
          </a:xfrm>
          <a:prstGeom prst="curvedConnector3">
            <a:avLst>
              <a:gd name="adj1" fmla="val 2607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2" name="연결선: 구부러짐 2091">
            <a:extLst>
              <a:ext uri="{FF2B5EF4-FFF2-40B4-BE49-F238E27FC236}">
                <a16:creationId xmlns:a16="http://schemas.microsoft.com/office/drawing/2014/main" id="{74957931-89E5-D47D-6431-98C771356856}"/>
              </a:ext>
            </a:extLst>
          </p:cNvPr>
          <p:cNvCxnSpPr>
            <a:cxnSpLocks/>
          </p:cNvCxnSpPr>
          <p:nvPr/>
        </p:nvCxnSpPr>
        <p:spPr>
          <a:xfrm rot="5400000">
            <a:off x="6660029" y="3188395"/>
            <a:ext cx="328180" cy="124162"/>
          </a:xfrm>
          <a:prstGeom prst="curvedConnector3">
            <a:avLst>
              <a:gd name="adj1" fmla="val 6006"/>
            </a:avLst>
          </a:prstGeom>
          <a:ln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3" name="TextBox 2092">
            <a:extLst>
              <a:ext uri="{FF2B5EF4-FFF2-40B4-BE49-F238E27FC236}">
                <a16:creationId xmlns:a16="http://schemas.microsoft.com/office/drawing/2014/main" id="{56BDAE1D-13BE-0822-40B6-4A88A056891A}"/>
              </a:ext>
            </a:extLst>
          </p:cNvPr>
          <p:cNvSpPr txBox="1"/>
          <p:nvPr/>
        </p:nvSpPr>
        <p:spPr>
          <a:xfrm>
            <a:off x="7676821" y="3080054"/>
            <a:ext cx="1570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i="1" dirty="0">
                <a:solidFill>
                  <a:schemeClr val="tx1"/>
                </a:solidFill>
              </a:rPr>
              <a:t>Bounded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b="1" i="1" dirty="0">
                <a:solidFill>
                  <a:schemeClr val="tx1"/>
                </a:solidFill>
              </a:rPr>
              <a:t>vruntime</a:t>
            </a:r>
            <a:endParaRPr lang="ko-KR" altLang="en-US" sz="1400" dirty="0"/>
          </a:p>
        </p:txBody>
      </p:sp>
      <p:sp>
        <p:nvSpPr>
          <p:cNvPr id="2095" name="TextBox 2094">
            <a:extLst>
              <a:ext uri="{FF2B5EF4-FFF2-40B4-BE49-F238E27FC236}">
                <a16:creationId xmlns:a16="http://schemas.microsoft.com/office/drawing/2014/main" id="{6C9CBA2A-CA74-1CFC-4A0B-283B5733CF8E}"/>
              </a:ext>
            </a:extLst>
          </p:cNvPr>
          <p:cNvSpPr txBox="1"/>
          <p:nvPr/>
        </p:nvSpPr>
        <p:spPr>
          <a:xfrm>
            <a:off x="5358637" y="3622739"/>
            <a:ext cx="44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①</a:t>
            </a:r>
            <a:endParaRPr lang="ko-KR" altLang="en-US" dirty="0"/>
          </a:p>
        </p:txBody>
      </p:sp>
      <p:sp>
        <p:nvSpPr>
          <p:cNvPr id="2096" name="TextBox 2095">
            <a:extLst>
              <a:ext uri="{FF2B5EF4-FFF2-40B4-BE49-F238E27FC236}">
                <a16:creationId xmlns:a16="http://schemas.microsoft.com/office/drawing/2014/main" id="{034DB98B-8481-85B2-E894-3E5E55926529}"/>
              </a:ext>
            </a:extLst>
          </p:cNvPr>
          <p:cNvSpPr txBox="1"/>
          <p:nvPr/>
        </p:nvSpPr>
        <p:spPr>
          <a:xfrm>
            <a:off x="7336142" y="3062136"/>
            <a:ext cx="44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②</a:t>
            </a:r>
          </a:p>
        </p:txBody>
      </p:sp>
      <p:sp>
        <p:nvSpPr>
          <p:cNvPr id="2097" name="TextBox 2096">
            <a:extLst>
              <a:ext uri="{FF2B5EF4-FFF2-40B4-BE49-F238E27FC236}">
                <a16:creationId xmlns:a16="http://schemas.microsoft.com/office/drawing/2014/main" id="{2D302FD5-775B-6D6F-2AC2-8BAED54C7B2F}"/>
              </a:ext>
            </a:extLst>
          </p:cNvPr>
          <p:cNvSpPr txBox="1"/>
          <p:nvPr/>
        </p:nvSpPr>
        <p:spPr>
          <a:xfrm>
            <a:off x="7511146" y="4670465"/>
            <a:ext cx="51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③</a:t>
            </a:r>
          </a:p>
        </p:txBody>
      </p:sp>
      <p:sp>
        <p:nvSpPr>
          <p:cNvPr id="2098" name="TextBox 2097">
            <a:extLst>
              <a:ext uri="{FF2B5EF4-FFF2-40B4-BE49-F238E27FC236}">
                <a16:creationId xmlns:a16="http://schemas.microsoft.com/office/drawing/2014/main" id="{475B0F90-CE26-6587-E36D-904F4AAC3DB1}"/>
              </a:ext>
            </a:extLst>
          </p:cNvPr>
          <p:cNvSpPr txBox="1"/>
          <p:nvPr/>
        </p:nvSpPr>
        <p:spPr>
          <a:xfrm>
            <a:off x="9341876" y="3641689"/>
            <a:ext cx="44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④</a:t>
            </a:r>
          </a:p>
        </p:txBody>
      </p:sp>
      <p:sp>
        <p:nvSpPr>
          <p:cNvPr id="2099" name="TextBox 2098">
            <a:extLst>
              <a:ext uri="{FF2B5EF4-FFF2-40B4-BE49-F238E27FC236}">
                <a16:creationId xmlns:a16="http://schemas.microsoft.com/office/drawing/2014/main" id="{AEF1A2A8-E56A-08D5-5C12-F581EF71C70E}"/>
              </a:ext>
            </a:extLst>
          </p:cNvPr>
          <p:cNvSpPr txBox="1"/>
          <p:nvPr/>
        </p:nvSpPr>
        <p:spPr>
          <a:xfrm>
            <a:off x="10726635" y="1532883"/>
            <a:ext cx="44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⑦</a:t>
            </a:r>
            <a:endParaRPr lang="ko-KR" altLang="en-US" dirty="0"/>
          </a:p>
        </p:txBody>
      </p:sp>
      <p:sp>
        <p:nvSpPr>
          <p:cNvPr id="2100" name="TextBox 2099">
            <a:extLst>
              <a:ext uri="{FF2B5EF4-FFF2-40B4-BE49-F238E27FC236}">
                <a16:creationId xmlns:a16="http://schemas.microsoft.com/office/drawing/2014/main" id="{1120B484-55E4-CC1A-B387-A4665478A8F5}"/>
              </a:ext>
            </a:extLst>
          </p:cNvPr>
          <p:cNvSpPr txBox="1"/>
          <p:nvPr/>
        </p:nvSpPr>
        <p:spPr>
          <a:xfrm>
            <a:off x="5160802" y="2858887"/>
            <a:ext cx="442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⑥</a:t>
            </a: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C61B76CF-01C7-1811-6618-0B54DB771085}"/>
              </a:ext>
            </a:extLst>
          </p:cNvPr>
          <p:cNvSpPr txBox="1"/>
          <p:nvPr/>
        </p:nvSpPr>
        <p:spPr>
          <a:xfrm>
            <a:off x="4946348" y="2926745"/>
            <a:ext cx="927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i="1" dirty="0">
                <a:solidFill>
                  <a:schemeClr val="tx1"/>
                </a:solidFill>
              </a:rPr>
              <a:t>    Task</a:t>
            </a:r>
          </a:p>
          <a:p>
            <a:pPr algn="r"/>
            <a:r>
              <a:rPr lang="en-US" altLang="ko-KR" sz="1200" i="1" dirty="0"/>
              <a:t>Preemption</a:t>
            </a:r>
            <a:endParaRPr lang="ko-KR" altLang="en-US" sz="1200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6812FF-7ADD-4590-EEC8-76F43E76EC5B}"/>
              </a:ext>
            </a:extLst>
          </p:cNvPr>
          <p:cNvSpPr txBox="1"/>
          <p:nvPr/>
        </p:nvSpPr>
        <p:spPr>
          <a:xfrm>
            <a:off x="11256335" y="3603623"/>
            <a:ext cx="352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평가</a:t>
            </a:r>
            <a:r>
              <a:rPr dirty="0"/>
              <a:t>: </a:t>
            </a:r>
            <a:r>
              <a:rPr dirty="0" err="1"/>
              <a:t>지연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(Evaluation: Latency)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rPr dirty="0"/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12064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지표</a:t>
            </a:r>
            <a:endParaRPr dirty="0"/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P95 Tail Latency (</a:t>
            </a:r>
            <a:r>
              <a:rPr dirty="0" err="1"/>
              <a:t>스케줄링</a:t>
            </a:r>
            <a:r>
              <a:rPr dirty="0"/>
              <a:t> </a:t>
            </a:r>
            <a:r>
              <a:rPr dirty="0" err="1"/>
              <a:t>지연의</a:t>
            </a:r>
            <a:r>
              <a:rPr dirty="0"/>
              <a:t> 95퍼센타일)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rPr dirty="0" err="1"/>
              <a:t>결과</a:t>
            </a:r>
            <a:endParaRPr dirty="0"/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CFS </a:t>
            </a:r>
            <a:r>
              <a:rPr dirty="0" err="1"/>
              <a:t>대비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 37.8% </a:t>
            </a:r>
            <a:r>
              <a:rPr dirty="0" err="1"/>
              <a:t>감소</a:t>
            </a:r>
            <a:r>
              <a:rPr dirty="0"/>
              <a:t> (Interactive)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BFS </a:t>
            </a:r>
            <a:r>
              <a:rPr dirty="0" err="1"/>
              <a:t>대비</a:t>
            </a:r>
            <a:r>
              <a:rPr dirty="0"/>
              <a:t> 21.3% </a:t>
            </a:r>
            <a:r>
              <a:rPr dirty="0" err="1"/>
              <a:t>감소</a:t>
            </a:r>
            <a:r>
              <a:rPr dirty="0"/>
              <a:t> (Interactive)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rPr dirty="0" err="1"/>
              <a:t>의미</a:t>
            </a:r>
            <a:endParaRPr dirty="0"/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체감</a:t>
            </a:r>
            <a:r>
              <a:rPr dirty="0"/>
              <a:t> </a:t>
            </a:r>
            <a:r>
              <a:rPr dirty="0" err="1"/>
              <a:t>응답성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rPr dirty="0" err="1"/>
              <a:t>고부하에서도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가능성</a:t>
            </a:r>
            <a:r>
              <a:rPr dirty="0"/>
              <a:t> </a:t>
            </a:r>
            <a:r>
              <a:rPr dirty="0" err="1"/>
              <a:t>증가</a:t>
            </a:r>
            <a:r>
              <a:rPr dirty="0"/>
              <a:t> (jitter </a:t>
            </a:r>
            <a:r>
              <a:rPr dirty="0" err="1"/>
              <a:t>감소</a:t>
            </a:r>
            <a:r>
              <a:rPr dirty="0"/>
              <a:t>)</a:t>
            </a:r>
          </a:p>
        </p:txBody>
      </p:sp>
      <p:pic>
        <p:nvPicPr>
          <p:cNvPr id="7" name="Picture 6" descr="fig_latency_results_b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17320"/>
            <a:ext cx="5486400" cy="3299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58064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Normalized P95 scheduling latency (CFS=100)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성능 평가: 에너지 및 효율 (Energy Efficiency)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394960" cy="5394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에너지 효율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Performance-per-Watt 최대 12% 향상 (Hybrid 모드)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공정성 보존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Jain’s Fairness Index가 CFS와 유사한 수준 유지 (예: &gt; 0.96)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2200">
                <a:solidFill>
                  <a:srgbClr val="232323"/>
                </a:solidFill>
              </a:defRPr>
            </a:pPr>
            <a:r>
              <a:t>운영 관점</a:t>
            </a:r>
          </a:p>
          <a:p>
            <a:pPr lvl="1">
              <a:spcAft>
                <a:spcPts val="300"/>
              </a:spcAft>
              <a:defRPr sz="2000">
                <a:solidFill>
                  <a:srgbClr val="232323"/>
                </a:solidFill>
              </a:defRPr>
            </a:pPr>
            <a:r>
              <a:t>Hybrid 모드가 고부하 시 bias를 완화하여 전력/공정성 악화 방지</a:t>
            </a:r>
          </a:p>
        </p:txBody>
      </p:sp>
      <p:pic>
        <p:nvPicPr>
          <p:cNvPr id="7" name="Picture 6" descr="fig_energy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394960" cy="2970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8064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Power / Perf-per-Watt / Migration rate 비교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결론 (Conclusion)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BRS (Bounded Responsiveness Scheduler)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60704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2600">
                <a:solidFill>
                  <a:srgbClr val="232323"/>
                </a:solidFill>
              </a:defRPr>
            </a:pPr>
            <a:r>
              <a:rPr dirty="0" err="1"/>
              <a:t>요약</a:t>
            </a:r>
            <a:endParaRPr dirty="0"/>
          </a:p>
          <a:p>
            <a:pPr lvl="1">
              <a:spcAft>
                <a:spcPts val="300"/>
              </a:spcAft>
              <a:defRPr sz="2400">
                <a:solidFill>
                  <a:srgbClr val="232323"/>
                </a:solidFill>
              </a:defRPr>
            </a:pPr>
            <a:r>
              <a:rPr dirty="0" err="1"/>
              <a:t>BRS는</a:t>
            </a:r>
            <a:r>
              <a:rPr dirty="0"/>
              <a:t> </a:t>
            </a:r>
            <a:r>
              <a:rPr dirty="0" err="1"/>
              <a:t>커널</a:t>
            </a:r>
            <a:r>
              <a:rPr dirty="0"/>
              <a:t>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범위를</a:t>
            </a:r>
            <a:r>
              <a:rPr dirty="0"/>
              <a:t> </a:t>
            </a:r>
            <a:r>
              <a:rPr dirty="0" err="1"/>
              <a:t>최소화하면서도</a:t>
            </a:r>
            <a:r>
              <a:rPr dirty="0"/>
              <a:t> tail </a:t>
            </a:r>
            <a:r>
              <a:rPr dirty="0" err="1"/>
              <a:t>latency를</a:t>
            </a:r>
            <a:r>
              <a:rPr dirty="0"/>
              <a:t> </a:t>
            </a:r>
            <a:r>
              <a:rPr dirty="0" err="1"/>
              <a:t>실용적으로</a:t>
            </a:r>
            <a:r>
              <a:rPr dirty="0"/>
              <a:t> </a:t>
            </a:r>
            <a:r>
              <a:rPr dirty="0" err="1"/>
              <a:t>감소</a:t>
            </a:r>
            <a:endParaRPr dirty="0"/>
          </a:p>
          <a:p>
            <a:pPr lvl="1">
              <a:spcAft>
                <a:spcPts val="300"/>
              </a:spcAft>
              <a:defRPr sz="2400">
                <a:solidFill>
                  <a:srgbClr val="232323"/>
                </a:solidFill>
              </a:defRPr>
            </a:pPr>
            <a:r>
              <a:rPr dirty="0" err="1"/>
              <a:t>응답성</a:t>
            </a:r>
            <a:r>
              <a:rPr dirty="0"/>
              <a:t> </a:t>
            </a:r>
            <a:r>
              <a:rPr dirty="0" err="1"/>
              <a:t>향상과</a:t>
            </a:r>
            <a:r>
              <a:rPr dirty="0"/>
              <a:t> </a:t>
            </a:r>
            <a:r>
              <a:rPr dirty="0" err="1"/>
              <a:t>공정성</a:t>
            </a:r>
            <a:r>
              <a:rPr dirty="0"/>
              <a:t>/</a:t>
            </a:r>
            <a:r>
              <a:rPr dirty="0" err="1"/>
              <a:t>안전성</a:t>
            </a:r>
            <a:r>
              <a:rPr dirty="0"/>
              <a:t>(guardrail)을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달성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2600">
                <a:solidFill>
                  <a:srgbClr val="232323"/>
                </a:solidFill>
              </a:defRPr>
            </a:pPr>
            <a:r>
              <a:rPr dirty="0" err="1"/>
              <a:t>시사점</a:t>
            </a:r>
            <a:endParaRPr dirty="0"/>
          </a:p>
          <a:p>
            <a:pPr lvl="1">
              <a:spcAft>
                <a:spcPts val="300"/>
              </a:spcAft>
              <a:defRPr sz="2400">
                <a:solidFill>
                  <a:srgbClr val="232323"/>
                </a:solidFill>
              </a:defRPr>
            </a:pPr>
            <a:r>
              <a:rPr dirty="0" err="1"/>
              <a:t>고성능</a:t>
            </a:r>
            <a:r>
              <a:rPr dirty="0"/>
              <a:t> </a:t>
            </a:r>
            <a:r>
              <a:rPr dirty="0" err="1"/>
              <a:t>서버부터</a:t>
            </a:r>
            <a:r>
              <a:rPr dirty="0"/>
              <a:t> </a:t>
            </a:r>
            <a:r>
              <a:rPr dirty="0" err="1"/>
              <a:t>저전력</a:t>
            </a:r>
            <a:r>
              <a:rPr dirty="0"/>
              <a:t> </a:t>
            </a:r>
            <a:r>
              <a:rPr dirty="0" err="1"/>
              <a:t>임베디드까지</a:t>
            </a:r>
            <a:r>
              <a:rPr dirty="0"/>
              <a:t> </a:t>
            </a:r>
            <a:r>
              <a:rPr dirty="0" err="1"/>
              <a:t>폭넓게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  <a:p>
            <a:pPr lvl="1">
              <a:spcAft>
                <a:spcPts val="3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SLO </a:t>
            </a:r>
            <a:r>
              <a:rPr dirty="0" err="1"/>
              <a:t>중심</a:t>
            </a:r>
            <a:r>
              <a:rPr dirty="0"/>
              <a:t> </a:t>
            </a:r>
            <a:r>
              <a:rPr dirty="0" err="1"/>
              <a:t>시스템에서</a:t>
            </a:r>
            <a:r>
              <a:rPr dirty="0"/>
              <a:t> ‘responsiveness-as-a-knob’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방향</a:t>
            </a:r>
            <a:r>
              <a:rPr dirty="0"/>
              <a:t> </a:t>
            </a:r>
            <a:r>
              <a:rPr dirty="0" err="1"/>
              <a:t>제시</a:t>
            </a:r>
            <a:endParaRPr dirty="0"/>
          </a:p>
          <a:p>
            <a:pPr>
              <a:lnSpc>
                <a:spcPct val="115000"/>
              </a:lnSpc>
              <a:spcAft>
                <a:spcPts val="600"/>
              </a:spcAft>
              <a:defRPr sz="2600">
                <a:solidFill>
                  <a:srgbClr val="232323"/>
                </a:solidFill>
              </a:defRPr>
            </a:pPr>
            <a:r>
              <a:rPr dirty="0"/>
              <a:t>Takeaway</a:t>
            </a:r>
          </a:p>
          <a:p>
            <a:pPr lvl="1">
              <a:spcAft>
                <a:spcPts val="300"/>
              </a:spcAft>
              <a:defRPr sz="2400">
                <a:solidFill>
                  <a:srgbClr val="232323"/>
                </a:solidFill>
              </a:defRPr>
            </a:pPr>
            <a:r>
              <a:rPr dirty="0" err="1"/>
              <a:t>응답성과</a:t>
            </a:r>
            <a:r>
              <a:rPr dirty="0"/>
              <a:t> </a:t>
            </a:r>
            <a:r>
              <a:rPr dirty="0" err="1"/>
              <a:t>공정성은</a:t>
            </a:r>
            <a:r>
              <a:rPr dirty="0"/>
              <a:t> ‘</a:t>
            </a:r>
            <a:r>
              <a:rPr dirty="0" err="1"/>
              <a:t>제로섬’이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안전장치와</a:t>
            </a:r>
            <a:r>
              <a:rPr dirty="0"/>
              <a:t> </a:t>
            </a:r>
            <a:r>
              <a:rPr dirty="0" err="1"/>
              <a:t>제어로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1039</Words>
  <Application>Microsoft Office PowerPoint</Application>
  <PresentationFormat>와이드스크린</PresentationFormat>
  <Paragraphs>121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leemgs Lim</cp:lastModifiedBy>
  <cp:revision>10</cp:revision>
  <dcterms:created xsi:type="dcterms:W3CDTF">2013-01-27T09:14:16Z</dcterms:created>
  <dcterms:modified xsi:type="dcterms:W3CDTF">2026-01-04T05:53:20Z</dcterms:modified>
  <cp:category/>
</cp:coreProperties>
</file>